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668" autoAdjust="0"/>
    <p:restoredTop sz="94215" autoAdjust="0"/>
  </p:normalViewPr>
  <p:slideViewPr>
    <p:cSldViewPr snapToGrid="0">
      <p:cViewPr varScale="1">
        <p:scale>
          <a:sx n="107" d="100"/>
          <a:sy n="107" d="100"/>
        </p:scale>
        <p:origin x="149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5AB6B57-B317-7129-FF04-A6E6D0D7B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725ACDE6-EA15-291F-2D12-57C9D16C5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8E801FF-E3D7-EB9B-AFAA-CA817E78D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B6BBF48-B55D-2EC2-9C28-515F6617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BDAA5EE-EBF6-2586-8532-39ED44FC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68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8E24C0-1CA6-642B-16E1-C8E31CA2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8DE2CFB-75C2-3A52-8D2D-9E836EEF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BA608BD-E7CC-B72B-4904-96AEDFEA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4251A56-3A7A-9F89-9B0A-7213862F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FE9B2CD-1588-B302-D015-2C5F360E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7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793BB7D-87F6-9C71-CBFD-A9E40208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A1F9DA0-C970-8DC1-CB03-A5FC103EF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9997734-B4DB-5068-30C3-B69FE46E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DA3B3F4-4F08-1603-3D1B-227DF3A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4618528-2E78-1657-5BAE-B790611E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4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65658E-F3E7-F5C3-64B3-627C0739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C919B04-AF44-9310-F022-79C5C6AB8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35B0236-60E4-F6CA-704F-01406B7F6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638DDBB-FEB6-E103-0643-DDF34AD3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C81FC46-A8AA-5F10-D7EB-7D8278E5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1B5CBE3-124D-11E0-C85C-C40A871C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4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983E6E-48CF-161A-496E-A53EA1A69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C9C14D1-7F34-7B40-4048-156AA2802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0A920E80-F578-8876-1DAF-850624BE1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701096FA-F023-AD38-288E-DF2465AA7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FE3AD12-F2EC-1DF7-8FE7-4F4AF9ACE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538F065F-4073-DB50-28C8-6D86D73A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2CD850CF-2C67-F3E0-7EBC-BCAFE9D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2FD167ED-C5E6-2E3D-7FE4-D6CB89BA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0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321975B-2D22-47C5-DAFF-EFC64A2E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EE59D5DD-69FD-B505-3116-61BC9A3D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C5B1AE23-B3AF-EC32-7314-7100997F3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B9647BD-0C88-F15F-EFE3-0E6834B6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7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AA191E-1DAA-6CEB-C70C-7C365986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5A3B371C-65D0-E820-184E-96E88678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1E46F2D-499B-17DC-FFD6-7107680A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97617C8-9DB8-16E2-17BE-8CEB57DA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A943470-7EEE-981D-BF5B-E82210CC1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2200BF7-66F6-F6ED-2CAB-5E1AACF8D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5667B8E-2FEB-25E3-E2F1-C43488F5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9A9C0254-AC56-5E78-E436-C0633E88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A9D623EB-3D40-40A0-7A2E-C60EA277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7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7A0BE7C-DD1E-3E81-BE93-2E5DDDD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DB00A6FC-2C51-ED48-EC3B-BFA0AC267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BB5B856F-473A-0716-1423-486D4ADE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B496340-7300-6BD5-A63D-1E37DF47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FB2EB72-2BB2-08FF-A7B8-8B5C559F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9DD24C4-CBE2-DCF0-52D8-11BBD288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6A029E-285A-AAFC-15E8-20FE7625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7467C50-C3D7-B16C-BE9D-B7BEEAA71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80DCC1A-AB48-2E67-1C6C-F08AF80F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FCF247B-A56C-D17F-6F2B-65BF69E8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892C04A-4AEA-C7DE-A6E1-0D1543CD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FE5E0AB3-C63A-4CEE-7873-079C70AB9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51B6D1F9-2164-B6BF-A13B-10F3309D8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27AA062-D481-4772-7E99-CB3BCBBB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2C87DE3-D7C7-D415-E8D5-138E4758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82B1511-CDD1-06A5-3450-1A39E59D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99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4B77F5CC-0EBE-72EB-9BED-DF61DE8F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2796530-428C-AFB9-BCE1-44B9195F3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C03FE1C-B68E-6743-D2C1-6FDEEB825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F8E69-74B7-4966-AB35-D225C01AA9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D623827-1CD8-6373-F035-100A259D8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CC247B7-D213-F4C7-D49B-12FBB89F2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9765B-A85E-466A-A4AF-348378019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4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Ορθογώνιο 1048">
            <a:extLst>
              <a:ext uri="{FF2B5EF4-FFF2-40B4-BE49-F238E27FC236}">
                <a16:creationId xmlns:a16="http://schemas.microsoft.com/office/drawing/2014/main" id="{A4A43192-01A8-656C-F955-BCA152569025}"/>
              </a:ext>
            </a:extLst>
          </p:cNvPr>
          <p:cNvSpPr/>
          <p:nvPr/>
        </p:nvSpPr>
        <p:spPr>
          <a:xfrm>
            <a:off x="10227712" y="2879526"/>
            <a:ext cx="1777651" cy="124438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C9B07978-23C4-32D9-A0E0-2CD240B20C76}"/>
              </a:ext>
            </a:extLst>
          </p:cNvPr>
          <p:cNvSpPr/>
          <p:nvPr/>
        </p:nvSpPr>
        <p:spPr>
          <a:xfrm>
            <a:off x="1940931" y="39273"/>
            <a:ext cx="3054158" cy="2608727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43D80869-E184-59EB-1DDE-1EBB0591DE9C}"/>
              </a:ext>
            </a:extLst>
          </p:cNvPr>
          <p:cNvSpPr/>
          <p:nvPr/>
        </p:nvSpPr>
        <p:spPr>
          <a:xfrm>
            <a:off x="42185" y="1170432"/>
            <a:ext cx="1380564" cy="5020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Attacker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4F7B1-E75E-D41D-C97D-71D5181EA239}"/>
              </a:ext>
            </a:extLst>
          </p:cNvPr>
          <p:cNvSpPr txBox="1"/>
          <p:nvPr/>
        </p:nvSpPr>
        <p:spPr>
          <a:xfrm>
            <a:off x="2758173" y="2278668"/>
            <a:ext cx="1616427" cy="34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+mj-lt"/>
                <a:cs typeface="Arial" panose="020B0604020202020204" pitchFamily="34" charset="0"/>
              </a:rPr>
              <a:t>Proxy Analyzer</a:t>
            </a:r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Ορθογώνιο 9">
            <a:extLst>
              <a:ext uri="{FF2B5EF4-FFF2-40B4-BE49-F238E27FC236}">
                <a16:creationId xmlns:a16="http://schemas.microsoft.com/office/drawing/2014/main" id="{67B07469-48DE-2A5C-680F-C09A7B4AC6FC}"/>
              </a:ext>
            </a:extLst>
          </p:cNvPr>
          <p:cNvSpPr/>
          <p:nvPr/>
        </p:nvSpPr>
        <p:spPr>
          <a:xfrm>
            <a:off x="2057473" y="106510"/>
            <a:ext cx="845943" cy="217215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Secure API Gateway</a:t>
            </a:r>
          </a:p>
        </p:txBody>
      </p:sp>
      <p:sp>
        <p:nvSpPr>
          <p:cNvPr id="11" name="Ορθογώνιο 10">
            <a:extLst>
              <a:ext uri="{FF2B5EF4-FFF2-40B4-BE49-F238E27FC236}">
                <a16:creationId xmlns:a16="http://schemas.microsoft.com/office/drawing/2014/main" id="{0E0A4700-140C-2296-C00B-23B3126F4B07}"/>
              </a:ext>
            </a:extLst>
          </p:cNvPr>
          <p:cNvSpPr/>
          <p:nvPr/>
        </p:nvSpPr>
        <p:spPr>
          <a:xfrm>
            <a:off x="3020693" y="109212"/>
            <a:ext cx="893899" cy="6544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Auth &amp; Access Control</a:t>
            </a:r>
          </a:p>
        </p:txBody>
      </p:sp>
      <p:sp>
        <p:nvSpPr>
          <p:cNvPr id="12" name="Ορθογώνιο 11">
            <a:extLst>
              <a:ext uri="{FF2B5EF4-FFF2-40B4-BE49-F238E27FC236}">
                <a16:creationId xmlns:a16="http://schemas.microsoft.com/office/drawing/2014/main" id="{C8CD43CD-AD58-8897-1E03-2A4CA4444D4C}"/>
              </a:ext>
            </a:extLst>
          </p:cNvPr>
          <p:cNvSpPr/>
          <p:nvPr/>
        </p:nvSpPr>
        <p:spPr>
          <a:xfrm>
            <a:off x="3020693" y="866728"/>
            <a:ext cx="893899" cy="6544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IDS / IPS</a:t>
            </a:r>
          </a:p>
        </p:txBody>
      </p:sp>
      <p:sp>
        <p:nvSpPr>
          <p:cNvPr id="13" name="Ορθογώνιο 12">
            <a:extLst>
              <a:ext uri="{FF2B5EF4-FFF2-40B4-BE49-F238E27FC236}">
                <a16:creationId xmlns:a16="http://schemas.microsoft.com/office/drawing/2014/main" id="{2E2C55BA-051D-8C61-6984-AA1B96A7057E}"/>
              </a:ext>
            </a:extLst>
          </p:cNvPr>
          <p:cNvSpPr/>
          <p:nvPr/>
        </p:nvSpPr>
        <p:spPr>
          <a:xfrm>
            <a:off x="3020693" y="1626947"/>
            <a:ext cx="893899" cy="6544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Risk Assessment</a:t>
            </a:r>
          </a:p>
        </p:txBody>
      </p:sp>
      <p:sp>
        <p:nvSpPr>
          <p:cNvPr id="14" name="Ορθογώνιο 13">
            <a:extLst>
              <a:ext uri="{FF2B5EF4-FFF2-40B4-BE49-F238E27FC236}">
                <a16:creationId xmlns:a16="http://schemas.microsoft.com/office/drawing/2014/main" id="{826C18D0-F18B-3FDB-A5DB-60788BBB7D52}"/>
              </a:ext>
            </a:extLst>
          </p:cNvPr>
          <p:cNvSpPr/>
          <p:nvPr/>
        </p:nvSpPr>
        <p:spPr>
          <a:xfrm>
            <a:off x="4032890" y="866728"/>
            <a:ext cx="844922" cy="141194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Intent Analyzer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[SLM/LLM]</a:t>
            </a:r>
          </a:p>
        </p:txBody>
      </p:sp>
      <p:pic>
        <p:nvPicPr>
          <p:cNvPr id="1026" name="Picture 2" descr="Database icon - Free Download PNG &amp; SVG | Streamline">
            <a:extLst>
              <a:ext uri="{FF2B5EF4-FFF2-40B4-BE49-F238E27FC236}">
                <a16:creationId xmlns:a16="http://schemas.microsoft.com/office/drawing/2014/main" id="{BEC439DD-D727-9063-7536-731B05D6F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443" y="94240"/>
            <a:ext cx="541208" cy="54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Ορθογώνιο 24">
            <a:extLst>
              <a:ext uri="{FF2B5EF4-FFF2-40B4-BE49-F238E27FC236}">
                <a16:creationId xmlns:a16="http://schemas.microsoft.com/office/drawing/2014/main" id="{C892BA31-EFCB-6687-5803-5C2D13482A02}"/>
              </a:ext>
            </a:extLst>
          </p:cNvPr>
          <p:cNvSpPr/>
          <p:nvPr/>
        </p:nvSpPr>
        <p:spPr>
          <a:xfrm>
            <a:off x="10139564" y="149261"/>
            <a:ext cx="1787498" cy="1975627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Context Sanitizer / Data Anonymizer</a:t>
            </a:r>
            <a:endParaRPr lang="en-US" sz="1100" b="1" dirty="0">
              <a:latin typeface="+mj-lt"/>
            </a:endParaRPr>
          </a:p>
        </p:txBody>
      </p:sp>
      <p:grpSp>
        <p:nvGrpSpPr>
          <p:cNvPr id="1058" name="Ομάδα 1057">
            <a:extLst>
              <a:ext uri="{FF2B5EF4-FFF2-40B4-BE49-F238E27FC236}">
                <a16:creationId xmlns:a16="http://schemas.microsoft.com/office/drawing/2014/main" id="{71B8B1E1-DD16-B972-0406-5F55555A1013}"/>
              </a:ext>
            </a:extLst>
          </p:cNvPr>
          <p:cNvGrpSpPr/>
          <p:nvPr/>
        </p:nvGrpSpPr>
        <p:grpSpPr>
          <a:xfrm>
            <a:off x="5651825" y="41404"/>
            <a:ext cx="3553493" cy="2006124"/>
            <a:chOff x="5667145" y="70013"/>
            <a:chExt cx="3549693" cy="2006124"/>
          </a:xfrm>
        </p:grpSpPr>
        <p:sp>
          <p:nvSpPr>
            <p:cNvPr id="3" name="Ορθογώνιο 2">
              <a:extLst>
                <a:ext uri="{FF2B5EF4-FFF2-40B4-BE49-F238E27FC236}">
                  <a16:creationId xmlns:a16="http://schemas.microsoft.com/office/drawing/2014/main" id="{1BE5B725-06D3-0DF1-4180-71E4553DBC1E}"/>
                </a:ext>
              </a:extLst>
            </p:cNvPr>
            <p:cNvSpPr/>
            <p:nvPr/>
          </p:nvSpPr>
          <p:spPr>
            <a:xfrm>
              <a:off x="5667145" y="70013"/>
              <a:ext cx="3549693" cy="199672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17" name="Ορθογώνιο 16">
              <a:extLst>
                <a:ext uri="{FF2B5EF4-FFF2-40B4-BE49-F238E27FC236}">
                  <a16:creationId xmlns:a16="http://schemas.microsoft.com/office/drawing/2014/main" id="{EF6A30BF-E593-AE70-1CE7-0EF4C981FB36}"/>
                </a:ext>
              </a:extLst>
            </p:cNvPr>
            <p:cNvSpPr/>
            <p:nvPr/>
          </p:nvSpPr>
          <p:spPr>
            <a:xfrm>
              <a:off x="6017607" y="1073755"/>
              <a:ext cx="1359577" cy="654422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Rule-based Intent Translation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19" name="Ορθογώνιο 18">
              <a:extLst>
                <a:ext uri="{FF2B5EF4-FFF2-40B4-BE49-F238E27FC236}">
                  <a16:creationId xmlns:a16="http://schemas.microsoft.com/office/drawing/2014/main" id="{D6E780ED-6729-6A08-B1E6-83D7A9932A5F}"/>
                </a:ext>
              </a:extLst>
            </p:cNvPr>
            <p:cNvSpPr/>
            <p:nvPr/>
          </p:nvSpPr>
          <p:spPr>
            <a:xfrm>
              <a:off x="7482438" y="1073755"/>
              <a:ext cx="1372336" cy="654422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Scenario Setup &amp; Instantiation Engine</a:t>
              </a:r>
              <a:endParaRPr lang="en-US" sz="1100" dirty="0">
                <a:latin typeface="+mj-lt"/>
              </a:endParaRPr>
            </a:p>
          </p:txBody>
        </p:sp>
        <p:grpSp>
          <p:nvGrpSpPr>
            <p:cNvPr id="27" name="Ομάδα 26">
              <a:extLst>
                <a:ext uri="{FF2B5EF4-FFF2-40B4-BE49-F238E27FC236}">
                  <a16:creationId xmlns:a16="http://schemas.microsoft.com/office/drawing/2014/main" id="{3EEB315E-C72B-BFC8-9460-73B077BE8700}"/>
                </a:ext>
              </a:extLst>
            </p:cNvPr>
            <p:cNvGrpSpPr/>
            <p:nvPr/>
          </p:nvGrpSpPr>
          <p:grpSpPr>
            <a:xfrm>
              <a:off x="6968433" y="161629"/>
              <a:ext cx="960421" cy="799997"/>
              <a:chOff x="6562600" y="2930920"/>
              <a:chExt cx="960421" cy="799997"/>
            </a:xfrm>
          </p:grpSpPr>
          <p:pic>
            <p:nvPicPr>
              <p:cNvPr id="18" name="Picture 2" descr="Database icon - Free Download PNG &amp; SVG | Streamline">
                <a:extLst>
                  <a:ext uri="{FF2B5EF4-FFF2-40B4-BE49-F238E27FC236}">
                    <a16:creationId xmlns:a16="http://schemas.microsoft.com/office/drawing/2014/main" id="{74289B51-D0C1-4C09-F84C-F536C6B593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7639" y="2930920"/>
                <a:ext cx="530246" cy="554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0BA341-A626-4F06-51A0-66AB538684EF}"/>
                  </a:ext>
                </a:extLst>
              </p:cNvPr>
              <p:cNvSpPr txBox="1"/>
              <p:nvPr/>
            </p:nvSpPr>
            <p:spPr>
              <a:xfrm>
                <a:off x="6670221" y="3453918"/>
                <a:ext cx="74517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Rules DB</a:t>
                </a:r>
              </a:p>
            </p:txBody>
          </p:sp>
          <p:sp>
            <p:nvSpPr>
              <p:cNvPr id="24" name="Ορθογώνιο 23">
                <a:extLst>
                  <a:ext uri="{FF2B5EF4-FFF2-40B4-BE49-F238E27FC236}">
                    <a16:creationId xmlns:a16="http://schemas.microsoft.com/office/drawing/2014/main" id="{4BB0A023-5689-6342-DC2E-C7E297AB279B}"/>
                  </a:ext>
                </a:extLst>
              </p:cNvPr>
              <p:cNvSpPr/>
              <p:nvPr/>
            </p:nvSpPr>
            <p:spPr>
              <a:xfrm>
                <a:off x="6562600" y="2937922"/>
                <a:ext cx="960421" cy="78545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+mj-lt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F40E9E-A0BD-9416-1855-56DE04CABF23}"/>
                </a:ext>
              </a:extLst>
            </p:cNvPr>
            <p:cNvSpPr txBox="1"/>
            <p:nvPr/>
          </p:nvSpPr>
          <p:spPr>
            <a:xfrm>
              <a:off x="6579637" y="1737583"/>
              <a:ext cx="167821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Deception Engine</a:t>
              </a:r>
              <a:endParaRPr lang="en-US" sz="1600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A3BD9A-989B-E21E-AABF-8E5E5DAFB9CB}"/>
                </a:ext>
              </a:extLst>
            </p:cNvPr>
            <p:cNvSpPr txBox="1"/>
            <p:nvPr/>
          </p:nvSpPr>
          <p:spPr>
            <a:xfrm>
              <a:off x="8034359" y="661381"/>
              <a:ext cx="10896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+mj-lt"/>
                </a:rPr>
                <a:t>Knowledge DB</a:t>
              </a:r>
              <a:endParaRPr lang="en-US" sz="105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30" name="Ευθεία γραμμή σύνδεσης 29">
            <a:extLst>
              <a:ext uri="{FF2B5EF4-FFF2-40B4-BE49-F238E27FC236}">
                <a16:creationId xmlns:a16="http://schemas.microsoft.com/office/drawing/2014/main" id="{D355FBD0-0554-D394-A929-BE0EA1CACEBF}"/>
              </a:ext>
            </a:extLst>
          </p:cNvPr>
          <p:cNvCxnSpPr>
            <a:cxnSpLocks/>
          </p:cNvCxnSpPr>
          <p:nvPr/>
        </p:nvCxnSpPr>
        <p:spPr>
          <a:xfrm flipV="1">
            <a:off x="9561418" y="-99625"/>
            <a:ext cx="0" cy="698177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Ομάδα 41">
            <a:extLst>
              <a:ext uri="{FF2B5EF4-FFF2-40B4-BE49-F238E27FC236}">
                <a16:creationId xmlns:a16="http://schemas.microsoft.com/office/drawing/2014/main" id="{ECA6CE6B-F549-CE70-5C92-C88E66E7A5B0}"/>
              </a:ext>
            </a:extLst>
          </p:cNvPr>
          <p:cNvGrpSpPr/>
          <p:nvPr/>
        </p:nvGrpSpPr>
        <p:grpSpPr>
          <a:xfrm>
            <a:off x="10118541" y="2943319"/>
            <a:ext cx="1838320" cy="1244388"/>
            <a:chOff x="9894159" y="2255520"/>
            <a:chExt cx="1848503" cy="1244388"/>
          </a:xfrm>
        </p:grpSpPr>
        <p:sp>
          <p:nvSpPr>
            <p:cNvPr id="41" name="Ορθογώνιο 40">
              <a:extLst>
                <a:ext uri="{FF2B5EF4-FFF2-40B4-BE49-F238E27FC236}">
                  <a16:creationId xmlns:a16="http://schemas.microsoft.com/office/drawing/2014/main" id="{927A8A2D-2CCA-D093-21F8-3048EC767EC6}"/>
                </a:ext>
              </a:extLst>
            </p:cNvPr>
            <p:cNvSpPr/>
            <p:nvPr/>
          </p:nvSpPr>
          <p:spPr>
            <a:xfrm>
              <a:off x="9926833" y="2255520"/>
              <a:ext cx="1787498" cy="124438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>
                <a:latin typeface="+mj-lt"/>
              </a:endParaRPr>
            </a:p>
          </p:txBody>
        </p:sp>
        <p:pic>
          <p:nvPicPr>
            <p:cNvPr id="33" name="Picture 2" descr="Power plant - Free industry icons">
              <a:extLst>
                <a:ext uri="{FF2B5EF4-FFF2-40B4-BE49-F238E27FC236}">
                  <a16:creationId xmlns:a16="http://schemas.microsoft.com/office/drawing/2014/main" id="{16806134-28D9-83F5-7CB4-74398BD01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7928" y="2397534"/>
              <a:ext cx="644141" cy="6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Ορθογώνιο 33">
              <a:extLst>
                <a:ext uri="{FF2B5EF4-FFF2-40B4-BE49-F238E27FC236}">
                  <a16:creationId xmlns:a16="http://schemas.microsoft.com/office/drawing/2014/main" id="{EB41DC97-050A-1D34-8872-D71A41C56FAE}"/>
                </a:ext>
              </a:extLst>
            </p:cNvPr>
            <p:cNvSpPr/>
            <p:nvPr/>
          </p:nvSpPr>
          <p:spPr>
            <a:xfrm>
              <a:off x="9982765" y="2365550"/>
              <a:ext cx="814468" cy="751301"/>
            </a:xfrm>
            <a:prstGeom prst="rect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37" name="Ορθογώνιο 36">
              <a:extLst>
                <a:ext uri="{FF2B5EF4-FFF2-40B4-BE49-F238E27FC236}">
                  <a16:creationId xmlns:a16="http://schemas.microsoft.com/office/drawing/2014/main" id="{371C7826-9F5E-506B-EDF8-C29A2A675FEF}"/>
                </a:ext>
              </a:extLst>
            </p:cNvPr>
            <p:cNvSpPr/>
            <p:nvPr/>
          </p:nvSpPr>
          <p:spPr>
            <a:xfrm>
              <a:off x="10855333" y="2365551"/>
              <a:ext cx="796333" cy="751300"/>
            </a:xfrm>
            <a:prstGeom prst="rect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>
                <a:latin typeface="+mj-lt"/>
              </a:endParaRPr>
            </a:p>
          </p:txBody>
        </p:sp>
        <p:pic>
          <p:nvPicPr>
            <p:cNvPr id="38" name="Picture 2" descr="Power plant - Free industry icons">
              <a:extLst>
                <a:ext uri="{FF2B5EF4-FFF2-40B4-BE49-F238E27FC236}">
                  <a16:creationId xmlns:a16="http://schemas.microsoft.com/office/drawing/2014/main" id="{BADDD5FD-20AA-E537-F1AC-7E4FFB54A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40498" y="2397533"/>
              <a:ext cx="644141" cy="6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C8B247-F8A4-85A4-7523-B2CC74199FF2}"/>
                </a:ext>
              </a:extLst>
            </p:cNvPr>
            <p:cNvSpPr txBox="1"/>
            <p:nvPr/>
          </p:nvSpPr>
          <p:spPr>
            <a:xfrm>
              <a:off x="9894159" y="3156207"/>
              <a:ext cx="184850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</a:rPr>
                <a:t>P</a:t>
              </a:r>
              <a:r>
                <a:rPr lang="en-US" sz="1400" i="0" dirty="0">
                  <a:effectLst/>
                  <a:latin typeface="+mj-lt"/>
                </a:rPr>
                <a:t>hysical </a:t>
              </a:r>
              <a:r>
                <a:rPr lang="en-US" sz="1400" dirty="0">
                  <a:latin typeface="+mj-lt"/>
                </a:rPr>
                <a:t>I</a:t>
              </a:r>
              <a:r>
                <a:rPr lang="en-US" sz="1400" i="0" dirty="0">
                  <a:effectLst/>
                  <a:latin typeface="+mj-lt"/>
                </a:rPr>
                <a:t>nfrastructure</a:t>
              </a:r>
              <a:endParaRPr lang="en-US" sz="1400" dirty="0">
                <a:latin typeface="+mj-lt"/>
              </a:endParaRPr>
            </a:p>
          </p:txBody>
        </p:sp>
      </p:grpSp>
      <p:grpSp>
        <p:nvGrpSpPr>
          <p:cNvPr id="1059" name="Ομάδα 1058">
            <a:extLst>
              <a:ext uri="{FF2B5EF4-FFF2-40B4-BE49-F238E27FC236}">
                <a16:creationId xmlns:a16="http://schemas.microsoft.com/office/drawing/2014/main" id="{4E5DB1E8-EA33-006D-FEA3-08D9BABB1D52}"/>
              </a:ext>
            </a:extLst>
          </p:cNvPr>
          <p:cNvGrpSpPr/>
          <p:nvPr/>
        </p:nvGrpSpPr>
        <p:grpSpPr>
          <a:xfrm>
            <a:off x="6040780" y="2357337"/>
            <a:ext cx="2859794" cy="2067853"/>
            <a:chOff x="6052422" y="2341997"/>
            <a:chExt cx="2859794" cy="2067853"/>
          </a:xfrm>
        </p:grpSpPr>
        <p:sp>
          <p:nvSpPr>
            <p:cNvPr id="50" name="Ορθογώνιο 49">
              <a:extLst>
                <a:ext uri="{FF2B5EF4-FFF2-40B4-BE49-F238E27FC236}">
                  <a16:creationId xmlns:a16="http://schemas.microsoft.com/office/drawing/2014/main" id="{A9F07D94-09A1-F302-23F3-880886D78289}"/>
                </a:ext>
              </a:extLst>
            </p:cNvPr>
            <p:cNvSpPr/>
            <p:nvPr/>
          </p:nvSpPr>
          <p:spPr>
            <a:xfrm>
              <a:off x="6114965" y="2341997"/>
              <a:ext cx="2716775" cy="2067853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E4FE9BB-85A1-AD25-7E4F-BE3E9689CF98}"/>
                </a:ext>
              </a:extLst>
            </p:cNvPr>
            <p:cNvSpPr txBox="1"/>
            <p:nvPr/>
          </p:nvSpPr>
          <p:spPr>
            <a:xfrm>
              <a:off x="6052422" y="3839797"/>
              <a:ext cx="285979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500" b="1" dirty="0">
                  <a:effectLst/>
                  <a:latin typeface="+mj-lt"/>
                </a:rPr>
                <a:t>MEC-empowered </a:t>
              </a:r>
            </a:p>
            <a:p>
              <a:pPr algn="ctr"/>
              <a:r>
                <a:rPr lang="en-US" sz="1500" b="1" dirty="0">
                  <a:effectLst/>
                  <a:latin typeface="+mj-lt"/>
                </a:rPr>
                <a:t>DT </a:t>
              </a:r>
              <a:r>
                <a:rPr lang="en-US" sz="1500" b="1" dirty="0">
                  <a:latin typeface="+mj-lt"/>
                </a:rPr>
                <a:t>O</a:t>
              </a:r>
              <a:r>
                <a:rPr lang="en-US" sz="1500" b="1" dirty="0">
                  <a:effectLst/>
                  <a:latin typeface="+mj-lt"/>
                </a:rPr>
                <a:t>rchestrator</a:t>
              </a:r>
              <a:endParaRPr lang="en-US" sz="1500" b="1" dirty="0">
                <a:latin typeface="+mj-lt"/>
              </a:endParaRPr>
            </a:p>
          </p:txBody>
        </p:sp>
        <p:sp>
          <p:nvSpPr>
            <p:cNvPr id="46" name="Ορθογώνιο 45">
              <a:extLst>
                <a:ext uri="{FF2B5EF4-FFF2-40B4-BE49-F238E27FC236}">
                  <a16:creationId xmlns:a16="http://schemas.microsoft.com/office/drawing/2014/main" id="{D6DA317F-90C0-EE2A-2E10-8638E89A017B}"/>
                </a:ext>
              </a:extLst>
            </p:cNvPr>
            <p:cNvSpPr/>
            <p:nvPr/>
          </p:nvSpPr>
          <p:spPr>
            <a:xfrm>
              <a:off x="6292706" y="2422728"/>
              <a:ext cx="1033998" cy="83272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latin typeface="+mj-lt"/>
                </a:rPr>
                <a:t>MEC-empowered DT Package </a:t>
              </a:r>
              <a:r>
                <a:rPr lang="en-US" sz="1300" dirty="0" err="1">
                  <a:latin typeface="+mj-lt"/>
                </a:rPr>
                <a:t>Mgmt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49" name="Ορθογώνιο 48">
              <a:extLst>
                <a:ext uri="{FF2B5EF4-FFF2-40B4-BE49-F238E27FC236}">
                  <a16:creationId xmlns:a16="http://schemas.microsoft.com/office/drawing/2014/main" id="{6D13AFFF-47CB-0C1C-3694-966D1A20CCD8}"/>
                </a:ext>
              </a:extLst>
            </p:cNvPr>
            <p:cNvSpPr/>
            <p:nvPr/>
          </p:nvSpPr>
          <p:spPr>
            <a:xfrm>
              <a:off x="7511656" y="2418130"/>
              <a:ext cx="1101023" cy="832729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+mj-lt"/>
                </a:rPr>
                <a:t>MEC Platform Selection &amp; End-to-End Orchestration</a:t>
              </a:r>
              <a:endParaRPr lang="en-US" sz="900" dirty="0">
                <a:latin typeface="+mj-lt"/>
              </a:endParaRPr>
            </a:p>
          </p:txBody>
        </p:sp>
        <p:sp>
          <p:nvSpPr>
            <p:cNvPr id="51" name="Ορθογώνιο 50">
              <a:extLst>
                <a:ext uri="{FF2B5EF4-FFF2-40B4-BE49-F238E27FC236}">
                  <a16:creationId xmlns:a16="http://schemas.microsoft.com/office/drawing/2014/main" id="{E44E6919-F7DA-8034-782A-E44D74DB3F7D}"/>
                </a:ext>
              </a:extLst>
            </p:cNvPr>
            <p:cNvSpPr/>
            <p:nvPr/>
          </p:nvSpPr>
          <p:spPr>
            <a:xfrm>
              <a:off x="6298647" y="3330718"/>
              <a:ext cx="2314032" cy="446155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VI Monitoring and Telemetry Module</a:t>
              </a:r>
              <a:endParaRPr lang="en-US" sz="700" dirty="0">
                <a:latin typeface="+mj-lt"/>
              </a:endParaRPr>
            </a:p>
          </p:txBody>
        </p:sp>
      </p:grpSp>
      <p:grpSp>
        <p:nvGrpSpPr>
          <p:cNvPr id="1060" name="Ομάδα 1059">
            <a:extLst>
              <a:ext uri="{FF2B5EF4-FFF2-40B4-BE49-F238E27FC236}">
                <a16:creationId xmlns:a16="http://schemas.microsoft.com/office/drawing/2014/main" id="{5652B4D9-21EE-68B6-3063-733CCE908D3E}"/>
              </a:ext>
            </a:extLst>
          </p:cNvPr>
          <p:cNvGrpSpPr/>
          <p:nvPr/>
        </p:nvGrpSpPr>
        <p:grpSpPr>
          <a:xfrm>
            <a:off x="5651825" y="4764226"/>
            <a:ext cx="3603830" cy="1098448"/>
            <a:chOff x="5655355" y="4747277"/>
            <a:chExt cx="3603830" cy="1098448"/>
          </a:xfrm>
        </p:grpSpPr>
        <p:sp>
          <p:nvSpPr>
            <p:cNvPr id="53" name="Ορθογώνιο 52">
              <a:extLst>
                <a:ext uri="{FF2B5EF4-FFF2-40B4-BE49-F238E27FC236}">
                  <a16:creationId xmlns:a16="http://schemas.microsoft.com/office/drawing/2014/main" id="{37627418-D1F7-ADAF-ECA3-AA6A72D9254C}"/>
                </a:ext>
              </a:extLst>
            </p:cNvPr>
            <p:cNvSpPr/>
            <p:nvPr/>
          </p:nvSpPr>
          <p:spPr>
            <a:xfrm>
              <a:off x="5655355" y="4747277"/>
              <a:ext cx="3553491" cy="1098448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61BA0BB-A841-3F7F-112D-8D8BDD4A8F64}"/>
                </a:ext>
              </a:extLst>
            </p:cNvPr>
            <p:cNvSpPr txBox="1"/>
            <p:nvPr/>
          </p:nvSpPr>
          <p:spPr>
            <a:xfrm>
              <a:off x="5705691" y="5507171"/>
              <a:ext cx="355349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+mj-lt"/>
                </a:rPr>
                <a:t>MEC-empowered DT Platform Manager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55" name="Ορθογώνιο 54">
              <a:extLst>
                <a:ext uri="{FF2B5EF4-FFF2-40B4-BE49-F238E27FC236}">
                  <a16:creationId xmlns:a16="http://schemas.microsoft.com/office/drawing/2014/main" id="{D9A5D273-ED2A-E870-C84F-7D9FC226D702}"/>
                </a:ext>
              </a:extLst>
            </p:cNvPr>
            <p:cNvSpPr/>
            <p:nvPr/>
          </p:nvSpPr>
          <p:spPr>
            <a:xfrm>
              <a:off x="7979985" y="4823993"/>
              <a:ext cx="1056892" cy="654422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MEC App Rules &amp; </a:t>
              </a:r>
              <a:r>
                <a:rPr lang="en-US" sz="1400" dirty="0" err="1">
                  <a:solidFill>
                    <a:schemeClr val="tx1"/>
                  </a:solidFill>
                  <a:latin typeface="+mj-lt"/>
                </a:rPr>
                <a:t>Reqts</a:t>
              </a:r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j-lt"/>
                </a:rPr>
                <a:t>Mgmt</a:t>
              </a:r>
              <a:endParaRPr lang="en-US" sz="11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8" name="Ορθογώνιο 57">
              <a:extLst>
                <a:ext uri="{FF2B5EF4-FFF2-40B4-BE49-F238E27FC236}">
                  <a16:creationId xmlns:a16="http://schemas.microsoft.com/office/drawing/2014/main" id="{32843DC6-9791-46ED-8F45-4841F0456467}"/>
                </a:ext>
              </a:extLst>
            </p:cNvPr>
            <p:cNvSpPr/>
            <p:nvPr/>
          </p:nvSpPr>
          <p:spPr>
            <a:xfrm>
              <a:off x="7006315" y="4834653"/>
              <a:ext cx="868356" cy="654422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MEC App Health </a:t>
              </a:r>
              <a:r>
                <a:rPr lang="en-US" sz="1400" dirty="0" err="1">
                  <a:solidFill>
                    <a:schemeClr val="tx1"/>
                  </a:solidFill>
                  <a:latin typeface="+mj-lt"/>
                </a:rPr>
                <a:t>Mgmt</a:t>
              </a:r>
              <a:endParaRPr lang="en-US" sz="1000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59" name="Ορθογώνιο 58">
            <a:extLst>
              <a:ext uri="{FF2B5EF4-FFF2-40B4-BE49-F238E27FC236}">
                <a16:creationId xmlns:a16="http://schemas.microsoft.com/office/drawing/2014/main" id="{C6881CF7-394B-E6F4-EF5B-4E58878F3FDF}"/>
              </a:ext>
            </a:extLst>
          </p:cNvPr>
          <p:cNvSpPr/>
          <p:nvPr/>
        </p:nvSpPr>
        <p:spPr>
          <a:xfrm>
            <a:off x="5788618" y="6185835"/>
            <a:ext cx="3296888" cy="55495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+mj-lt"/>
              </a:rPr>
              <a:t>Virtualization Infrastructure Manager</a:t>
            </a:r>
          </a:p>
        </p:txBody>
      </p:sp>
      <p:sp>
        <p:nvSpPr>
          <p:cNvPr id="36" name="Ορθογώνιο 35">
            <a:extLst>
              <a:ext uri="{FF2B5EF4-FFF2-40B4-BE49-F238E27FC236}">
                <a16:creationId xmlns:a16="http://schemas.microsoft.com/office/drawing/2014/main" id="{7D2F43DF-92A6-6129-AC90-4904E37BEE5D}"/>
              </a:ext>
            </a:extLst>
          </p:cNvPr>
          <p:cNvSpPr/>
          <p:nvPr/>
        </p:nvSpPr>
        <p:spPr>
          <a:xfrm>
            <a:off x="61993" y="3690607"/>
            <a:ext cx="4933096" cy="3107027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4" name="Ορθογώνιο 43">
            <a:extLst>
              <a:ext uri="{FF2B5EF4-FFF2-40B4-BE49-F238E27FC236}">
                <a16:creationId xmlns:a16="http://schemas.microsoft.com/office/drawing/2014/main" id="{E5D9952D-0DF6-DC7A-42F1-FD9241C21CBB}"/>
              </a:ext>
            </a:extLst>
          </p:cNvPr>
          <p:cNvSpPr/>
          <p:nvPr/>
        </p:nvSpPr>
        <p:spPr>
          <a:xfrm>
            <a:off x="2392167" y="3793702"/>
            <a:ext cx="2483720" cy="217215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048B1-94BA-625A-5C99-9886F96625F3}"/>
              </a:ext>
            </a:extLst>
          </p:cNvPr>
          <p:cNvSpPr txBox="1"/>
          <p:nvPr/>
        </p:nvSpPr>
        <p:spPr>
          <a:xfrm>
            <a:off x="2387512" y="5625956"/>
            <a:ext cx="2483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MEC-empowered DT Platform</a:t>
            </a:r>
          </a:p>
        </p:txBody>
      </p:sp>
      <p:sp>
        <p:nvSpPr>
          <p:cNvPr id="52" name="Ορθογώνιο 51">
            <a:extLst>
              <a:ext uri="{FF2B5EF4-FFF2-40B4-BE49-F238E27FC236}">
                <a16:creationId xmlns:a16="http://schemas.microsoft.com/office/drawing/2014/main" id="{64142453-8C10-D634-5D7D-F50F138F4933}"/>
              </a:ext>
            </a:extLst>
          </p:cNvPr>
          <p:cNvSpPr/>
          <p:nvPr/>
        </p:nvSpPr>
        <p:spPr>
          <a:xfrm>
            <a:off x="4006099" y="109212"/>
            <a:ext cx="893899" cy="654422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+mj-lt"/>
            </a:endParaRPr>
          </a:p>
        </p:txBody>
      </p:sp>
      <p:sp>
        <p:nvSpPr>
          <p:cNvPr id="60" name="Ορθογώνιο 59">
            <a:extLst>
              <a:ext uri="{FF2B5EF4-FFF2-40B4-BE49-F238E27FC236}">
                <a16:creationId xmlns:a16="http://schemas.microsoft.com/office/drawing/2014/main" id="{B6F19F2B-9F27-D7C7-C20D-87FB5B19F2F1}"/>
              </a:ext>
            </a:extLst>
          </p:cNvPr>
          <p:cNvSpPr/>
          <p:nvPr/>
        </p:nvSpPr>
        <p:spPr>
          <a:xfrm>
            <a:off x="119416" y="6077087"/>
            <a:ext cx="2688432" cy="601843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9113E8-FC0E-6D6B-ED56-32F1BB4C7FEE}"/>
              </a:ext>
            </a:extLst>
          </p:cNvPr>
          <p:cNvSpPr txBox="1"/>
          <p:nvPr/>
        </p:nvSpPr>
        <p:spPr>
          <a:xfrm>
            <a:off x="139867" y="6357067"/>
            <a:ext cx="261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Virtualization Infrastructure</a:t>
            </a:r>
          </a:p>
        </p:txBody>
      </p:sp>
      <p:sp>
        <p:nvSpPr>
          <p:cNvPr id="63" name="Ορθογώνιο 62">
            <a:extLst>
              <a:ext uri="{FF2B5EF4-FFF2-40B4-BE49-F238E27FC236}">
                <a16:creationId xmlns:a16="http://schemas.microsoft.com/office/drawing/2014/main" id="{0861BB47-50EA-FBB7-0E63-FB1C155F4132}"/>
              </a:ext>
            </a:extLst>
          </p:cNvPr>
          <p:cNvSpPr/>
          <p:nvPr/>
        </p:nvSpPr>
        <p:spPr>
          <a:xfrm>
            <a:off x="178705" y="6144858"/>
            <a:ext cx="2571574" cy="23115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Data plane</a:t>
            </a:r>
          </a:p>
        </p:txBody>
      </p:sp>
      <p:sp>
        <p:nvSpPr>
          <p:cNvPr id="1028" name="Ορθογώνιο 1027">
            <a:extLst>
              <a:ext uri="{FF2B5EF4-FFF2-40B4-BE49-F238E27FC236}">
                <a16:creationId xmlns:a16="http://schemas.microsoft.com/office/drawing/2014/main" id="{B67A8753-B01C-126F-E13E-2D10A94DBD31}"/>
              </a:ext>
            </a:extLst>
          </p:cNvPr>
          <p:cNvSpPr/>
          <p:nvPr/>
        </p:nvSpPr>
        <p:spPr>
          <a:xfrm>
            <a:off x="2486792" y="4511017"/>
            <a:ext cx="2310812" cy="45342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Runtime Information Support</a:t>
            </a:r>
            <a:endParaRPr lang="en-US" sz="1100" dirty="0">
              <a:latin typeface="+mj-lt"/>
            </a:endParaRPr>
          </a:p>
        </p:txBody>
      </p:sp>
      <p:sp>
        <p:nvSpPr>
          <p:cNvPr id="1029" name="Ορθογώνιο 1028">
            <a:extLst>
              <a:ext uri="{FF2B5EF4-FFF2-40B4-BE49-F238E27FC236}">
                <a16:creationId xmlns:a16="http://schemas.microsoft.com/office/drawing/2014/main" id="{80BA16F1-E937-2E4D-0FD1-5E79F99B682C}"/>
              </a:ext>
            </a:extLst>
          </p:cNvPr>
          <p:cNvSpPr/>
          <p:nvPr/>
        </p:nvSpPr>
        <p:spPr>
          <a:xfrm>
            <a:off x="2486792" y="5157145"/>
            <a:ext cx="2310812" cy="45342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Traffic rules control</a:t>
            </a:r>
            <a:endParaRPr lang="en-US" sz="14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4619BB24-C41F-9E93-124B-3391291519EB}"/>
              </a:ext>
            </a:extLst>
          </p:cNvPr>
          <p:cNvSpPr txBox="1"/>
          <p:nvPr/>
        </p:nvSpPr>
        <p:spPr>
          <a:xfrm>
            <a:off x="2679709" y="6466605"/>
            <a:ext cx="250018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>
                <a:latin typeface="+mj-lt"/>
              </a:rPr>
              <a:t>MEC-empowered DT Host</a:t>
            </a:r>
          </a:p>
        </p:txBody>
      </p:sp>
      <p:cxnSp>
        <p:nvCxnSpPr>
          <p:cNvPr id="1035" name="Ευθεία γραμμή σύνδεσης 1034">
            <a:extLst>
              <a:ext uri="{FF2B5EF4-FFF2-40B4-BE49-F238E27FC236}">
                <a16:creationId xmlns:a16="http://schemas.microsoft.com/office/drawing/2014/main" id="{67E2EC53-CD5F-C9AB-384D-CF79F05BCAD1}"/>
              </a:ext>
            </a:extLst>
          </p:cNvPr>
          <p:cNvCxnSpPr>
            <a:stCxn id="5" idx="3"/>
          </p:cNvCxnSpPr>
          <p:nvPr/>
        </p:nvCxnSpPr>
        <p:spPr>
          <a:xfrm>
            <a:off x="1422749" y="1421443"/>
            <a:ext cx="5127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Ευθεία γραμμή σύνδεσης 1042">
            <a:extLst>
              <a:ext uri="{FF2B5EF4-FFF2-40B4-BE49-F238E27FC236}">
                <a16:creationId xmlns:a16="http://schemas.microsoft.com/office/drawing/2014/main" id="{F618490B-FA91-EE99-5C00-CED53994DD50}"/>
              </a:ext>
            </a:extLst>
          </p:cNvPr>
          <p:cNvCxnSpPr>
            <a:cxnSpLocks/>
          </p:cNvCxnSpPr>
          <p:nvPr/>
        </p:nvCxnSpPr>
        <p:spPr>
          <a:xfrm>
            <a:off x="1456954" y="238955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Γραμμή σύνδεσης: Γωνιώδης 1049">
            <a:extLst>
              <a:ext uri="{FF2B5EF4-FFF2-40B4-BE49-F238E27FC236}">
                <a16:creationId xmlns:a16="http://schemas.microsoft.com/office/drawing/2014/main" id="{7D082C78-68E8-E736-8F67-DAF399908E40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4995089" y="1039764"/>
            <a:ext cx="656736" cy="303873"/>
          </a:xfrm>
          <a:prstGeom prst="bentConnector3">
            <a:avLst>
              <a:gd name="adj1" fmla="val 84083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Ευθεία γραμμή σύνδεσης 1069">
            <a:extLst>
              <a:ext uri="{FF2B5EF4-FFF2-40B4-BE49-F238E27FC236}">
                <a16:creationId xmlns:a16="http://schemas.microsoft.com/office/drawing/2014/main" id="{ACB33BFB-8AEC-5911-2E3E-AEFFEA04964B}"/>
              </a:ext>
            </a:extLst>
          </p:cNvPr>
          <p:cNvCxnSpPr>
            <a:cxnSpLocks/>
          </p:cNvCxnSpPr>
          <p:nvPr/>
        </p:nvCxnSpPr>
        <p:spPr>
          <a:xfrm>
            <a:off x="7470796" y="5878470"/>
            <a:ext cx="0" cy="3073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Ευθεία γραμμή σύνδεσης 1077">
            <a:extLst>
              <a:ext uri="{FF2B5EF4-FFF2-40B4-BE49-F238E27FC236}">
                <a16:creationId xmlns:a16="http://schemas.microsoft.com/office/drawing/2014/main" id="{C190685D-FD5B-6D07-557A-67D375613EAF}"/>
              </a:ext>
            </a:extLst>
          </p:cNvPr>
          <p:cNvCxnSpPr>
            <a:cxnSpLocks/>
          </p:cNvCxnSpPr>
          <p:nvPr/>
        </p:nvCxnSpPr>
        <p:spPr>
          <a:xfrm>
            <a:off x="7414292" y="2038124"/>
            <a:ext cx="0" cy="3073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Ευθεία γραμμή σύνδεσης 1079">
            <a:extLst>
              <a:ext uri="{FF2B5EF4-FFF2-40B4-BE49-F238E27FC236}">
                <a16:creationId xmlns:a16="http://schemas.microsoft.com/office/drawing/2014/main" id="{17E6F883-F35F-F5E8-6D18-24DE5780FB30}"/>
              </a:ext>
            </a:extLst>
          </p:cNvPr>
          <p:cNvCxnSpPr/>
          <p:nvPr/>
        </p:nvCxnSpPr>
        <p:spPr>
          <a:xfrm>
            <a:off x="5894446" y="2047528"/>
            <a:ext cx="0" cy="27091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Γραμμή σύνδεσης: Γωνιώδης 1083">
            <a:extLst>
              <a:ext uri="{FF2B5EF4-FFF2-40B4-BE49-F238E27FC236}">
                <a16:creationId xmlns:a16="http://schemas.microsoft.com/office/drawing/2014/main" id="{C5C918B7-FFAC-3400-3F46-89B754514DEC}"/>
              </a:ext>
            </a:extLst>
          </p:cNvPr>
          <p:cNvCxnSpPr>
            <a:cxnSpLocks/>
            <a:stCxn id="50" idx="3"/>
            <a:endCxn id="59" idx="3"/>
          </p:cNvCxnSpPr>
          <p:nvPr/>
        </p:nvCxnSpPr>
        <p:spPr>
          <a:xfrm>
            <a:off x="8820098" y="3391264"/>
            <a:ext cx="265408" cy="3072049"/>
          </a:xfrm>
          <a:prstGeom prst="bentConnector3">
            <a:avLst>
              <a:gd name="adj1" fmla="val 22202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Ευθεία γραμμή σύνδεσης 1094">
            <a:extLst>
              <a:ext uri="{FF2B5EF4-FFF2-40B4-BE49-F238E27FC236}">
                <a16:creationId xmlns:a16="http://schemas.microsoft.com/office/drawing/2014/main" id="{0C681DA0-3192-E72D-500D-7FE9729A46E9}"/>
              </a:ext>
            </a:extLst>
          </p:cNvPr>
          <p:cNvCxnSpPr>
            <a:cxnSpLocks/>
            <a:stCxn id="41" idx="0"/>
            <a:endCxn id="25" idx="2"/>
          </p:cNvCxnSpPr>
          <p:nvPr/>
        </p:nvCxnSpPr>
        <p:spPr>
          <a:xfrm flipH="1" flipV="1">
            <a:off x="11033313" y="2124888"/>
            <a:ext cx="6548" cy="818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Ευθεία γραμμή σύνδεσης 1098">
            <a:extLst>
              <a:ext uri="{FF2B5EF4-FFF2-40B4-BE49-F238E27FC236}">
                <a16:creationId xmlns:a16="http://schemas.microsoft.com/office/drawing/2014/main" id="{7521B950-7D17-C432-57B4-79DFD3F1DD24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9186068" y="1133531"/>
            <a:ext cx="953496" cy="3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Ευθεία γραμμή σύνδεσης 1101">
            <a:extLst>
              <a:ext uri="{FF2B5EF4-FFF2-40B4-BE49-F238E27FC236}">
                <a16:creationId xmlns:a16="http://schemas.microsoft.com/office/drawing/2014/main" id="{22BC4E9A-A426-95F9-A8AA-4F545B0C312B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4875886" y="5313450"/>
            <a:ext cx="7759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4" name="Ευθεία γραμμή σύνδεσης 1103">
            <a:extLst>
              <a:ext uri="{FF2B5EF4-FFF2-40B4-BE49-F238E27FC236}">
                <a16:creationId xmlns:a16="http://schemas.microsoft.com/office/drawing/2014/main" id="{A839C052-0C36-222B-69B9-1AFD46D30E3C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2807848" y="6463313"/>
            <a:ext cx="2980770" cy="259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Γραμμή σύνδεσης: Γωνιώδης 1105">
            <a:extLst>
              <a:ext uri="{FF2B5EF4-FFF2-40B4-BE49-F238E27FC236}">
                <a16:creationId xmlns:a16="http://schemas.microsoft.com/office/drawing/2014/main" id="{26CA061D-5101-582E-D5F0-8C7B662C8CA6}"/>
              </a:ext>
            </a:extLst>
          </p:cNvPr>
          <p:cNvCxnSpPr>
            <a:cxnSpLocks/>
            <a:stCxn id="4" idx="2"/>
            <a:endCxn id="47" idx="0"/>
          </p:cNvCxnSpPr>
          <p:nvPr/>
        </p:nvCxnSpPr>
        <p:spPr>
          <a:xfrm rot="5400000">
            <a:off x="975672" y="2144656"/>
            <a:ext cx="1988994" cy="2995682"/>
          </a:xfrm>
          <a:prstGeom prst="bentConnector3">
            <a:avLst>
              <a:gd name="adj1" fmla="val 2664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F44741A-C6BA-FF4B-0521-FC3B847ED464}"/>
              </a:ext>
            </a:extLst>
          </p:cNvPr>
          <p:cNvSpPr txBox="1"/>
          <p:nvPr/>
        </p:nvSpPr>
        <p:spPr>
          <a:xfrm>
            <a:off x="7436852" y="2037917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Mm1</a:t>
            </a:r>
            <a:endParaRPr lang="en-US" sz="1400" dirty="0">
              <a:latin typeface="+mj-lt"/>
            </a:endParaRPr>
          </a:p>
        </p:txBody>
      </p:sp>
      <p:cxnSp>
        <p:nvCxnSpPr>
          <p:cNvPr id="56" name="Ευθεία γραμμή σύνδεσης 55">
            <a:extLst>
              <a:ext uri="{FF2B5EF4-FFF2-40B4-BE49-F238E27FC236}">
                <a16:creationId xmlns:a16="http://schemas.microsoft.com/office/drawing/2014/main" id="{BD19298E-01B6-AF65-41D1-04375942033C}"/>
              </a:ext>
            </a:extLst>
          </p:cNvPr>
          <p:cNvCxnSpPr/>
          <p:nvPr/>
        </p:nvCxnSpPr>
        <p:spPr>
          <a:xfrm>
            <a:off x="7334589" y="2191805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BEEA552-5435-3278-751C-FDD810192479}"/>
              </a:ext>
            </a:extLst>
          </p:cNvPr>
          <p:cNvSpPr txBox="1"/>
          <p:nvPr/>
        </p:nvSpPr>
        <p:spPr>
          <a:xfrm>
            <a:off x="5294804" y="3216179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Mm2</a:t>
            </a:r>
            <a:endParaRPr lang="en-US" sz="1400" dirty="0">
              <a:latin typeface="+mj-lt"/>
            </a:endParaRPr>
          </a:p>
        </p:txBody>
      </p:sp>
      <p:cxnSp>
        <p:nvCxnSpPr>
          <p:cNvPr id="1030" name="Ευθεία γραμμή σύνδεσης 1029">
            <a:extLst>
              <a:ext uri="{FF2B5EF4-FFF2-40B4-BE49-F238E27FC236}">
                <a16:creationId xmlns:a16="http://schemas.microsoft.com/office/drawing/2014/main" id="{0AF0BC67-50AD-C5F8-7D56-38B1B33020C0}"/>
              </a:ext>
            </a:extLst>
          </p:cNvPr>
          <p:cNvCxnSpPr/>
          <p:nvPr/>
        </p:nvCxnSpPr>
        <p:spPr>
          <a:xfrm>
            <a:off x="5814743" y="3370067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CB51EB4A-E530-9DC6-505F-CB7323EA79A7}"/>
              </a:ext>
            </a:extLst>
          </p:cNvPr>
          <p:cNvSpPr txBox="1"/>
          <p:nvPr/>
        </p:nvSpPr>
        <p:spPr>
          <a:xfrm>
            <a:off x="7509724" y="4432179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Mm3</a:t>
            </a:r>
            <a:endParaRPr lang="en-US" sz="1400" dirty="0">
              <a:latin typeface="+mj-lt"/>
            </a:endParaRPr>
          </a:p>
        </p:txBody>
      </p:sp>
      <p:cxnSp>
        <p:nvCxnSpPr>
          <p:cNvPr id="1034" name="Ευθεία γραμμή σύνδεσης 1033">
            <a:extLst>
              <a:ext uri="{FF2B5EF4-FFF2-40B4-BE49-F238E27FC236}">
                <a16:creationId xmlns:a16="http://schemas.microsoft.com/office/drawing/2014/main" id="{D797A1AB-4EF9-3C28-7195-BD906B647D66}"/>
              </a:ext>
            </a:extLst>
          </p:cNvPr>
          <p:cNvCxnSpPr/>
          <p:nvPr/>
        </p:nvCxnSpPr>
        <p:spPr>
          <a:xfrm>
            <a:off x="7407461" y="4586067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569513B5-1560-8C82-2B05-72148DFCA725}"/>
              </a:ext>
            </a:extLst>
          </p:cNvPr>
          <p:cNvSpPr txBox="1"/>
          <p:nvPr/>
        </p:nvSpPr>
        <p:spPr>
          <a:xfrm>
            <a:off x="8839489" y="4018326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</a:t>
            </a:r>
            <a:r>
              <a:rPr lang="en-US" sz="1400" b="1" dirty="0">
                <a:latin typeface="+mj-lt"/>
              </a:rPr>
              <a:t>4</a:t>
            </a:r>
            <a:endParaRPr lang="en-US" sz="1400" dirty="0">
              <a:latin typeface="+mj-lt"/>
            </a:endParaRPr>
          </a:p>
        </p:txBody>
      </p:sp>
      <p:cxnSp>
        <p:nvCxnSpPr>
          <p:cNvPr id="1038" name="Ευθεία γραμμή σύνδεσης 1037">
            <a:extLst>
              <a:ext uri="{FF2B5EF4-FFF2-40B4-BE49-F238E27FC236}">
                <a16:creationId xmlns:a16="http://schemas.microsoft.com/office/drawing/2014/main" id="{AC012363-F781-4BD3-4407-F9ACBB949400}"/>
              </a:ext>
            </a:extLst>
          </p:cNvPr>
          <p:cNvCxnSpPr>
            <a:cxnSpLocks/>
          </p:cNvCxnSpPr>
          <p:nvPr/>
        </p:nvCxnSpPr>
        <p:spPr>
          <a:xfrm>
            <a:off x="9339447" y="4162953"/>
            <a:ext cx="13792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765E7EB0-9157-9F01-6F37-A6ABA726D3BD}"/>
              </a:ext>
            </a:extLst>
          </p:cNvPr>
          <p:cNvSpPr txBox="1"/>
          <p:nvPr/>
        </p:nvSpPr>
        <p:spPr>
          <a:xfrm>
            <a:off x="5018865" y="4959617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</a:t>
            </a:r>
            <a:r>
              <a:rPr lang="en-US" sz="1400" b="1" dirty="0">
                <a:latin typeface="+mj-lt"/>
              </a:rPr>
              <a:t>5</a:t>
            </a:r>
            <a:endParaRPr lang="en-US" sz="1400" dirty="0">
              <a:latin typeface="+mj-lt"/>
            </a:endParaRPr>
          </a:p>
        </p:txBody>
      </p:sp>
      <p:cxnSp>
        <p:nvCxnSpPr>
          <p:cNvPr id="1040" name="Ευθεία γραμμή σύνδεσης 1039">
            <a:extLst>
              <a:ext uri="{FF2B5EF4-FFF2-40B4-BE49-F238E27FC236}">
                <a16:creationId xmlns:a16="http://schemas.microsoft.com/office/drawing/2014/main" id="{F3D04378-ACFD-BF3F-FEA0-5B16604EE4AB}"/>
              </a:ext>
            </a:extLst>
          </p:cNvPr>
          <p:cNvCxnSpPr>
            <a:cxnSpLocks/>
          </p:cNvCxnSpPr>
          <p:nvPr/>
        </p:nvCxnSpPr>
        <p:spPr>
          <a:xfrm>
            <a:off x="5294804" y="5221338"/>
            <a:ext cx="0" cy="18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9EF7C968-7522-D7D9-0889-0A8616343402}"/>
              </a:ext>
            </a:extLst>
          </p:cNvPr>
          <p:cNvSpPr txBox="1"/>
          <p:nvPr/>
        </p:nvSpPr>
        <p:spPr>
          <a:xfrm>
            <a:off x="7493995" y="5878058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</a:t>
            </a:r>
            <a:r>
              <a:rPr lang="en-US" sz="1400" b="1" dirty="0">
                <a:latin typeface="+mj-lt"/>
              </a:rPr>
              <a:t>6</a:t>
            </a:r>
            <a:endParaRPr lang="en-US" sz="1400" dirty="0">
              <a:latin typeface="+mj-lt"/>
            </a:endParaRPr>
          </a:p>
        </p:txBody>
      </p:sp>
      <p:cxnSp>
        <p:nvCxnSpPr>
          <p:cNvPr id="1044" name="Ευθεία γραμμή σύνδεσης 1043">
            <a:extLst>
              <a:ext uri="{FF2B5EF4-FFF2-40B4-BE49-F238E27FC236}">
                <a16:creationId xmlns:a16="http://schemas.microsoft.com/office/drawing/2014/main" id="{F682191F-F95F-4B08-6BB5-E4808CF03209}"/>
              </a:ext>
            </a:extLst>
          </p:cNvPr>
          <p:cNvCxnSpPr/>
          <p:nvPr/>
        </p:nvCxnSpPr>
        <p:spPr>
          <a:xfrm>
            <a:off x="7391732" y="6031946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A00164A4-A30A-E668-F78C-ED69322F9FE1}"/>
              </a:ext>
            </a:extLst>
          </p:cNvPr>
          <p:cNvSpPr txBox="1"/>
          <p:nvPr/>
        </p:nvSpPr>
        <p:spPr>
          <a:xfrm>
            <a:off x="5125578" y="6124758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Mm7</a:t>
            </a:r>
            <a:endParaRPr lang="en-US" sz="1400" dirty="0">
              <a:latin typeface="+mj-lt"/>
            </a:endParaRPr>
          </a:p>
        </p:txBody>
      </p:sp>
      <p:cxnSp>
        <p:nvCxnSpPr>
          <p:cNvPr id="1047" name="Ευθεία γραμμή σύνδεσης 1046">
            <a:extLst>
              <a:ext uri="{FF2B5EF4-FFF2-40B4-BE49-F238E27FC236}">
                <a16:creationId xmlns:a16="http://schemas.microsoft.com/office/drawing/2014/main" id="{8C7D690F-3690-7366-4740-80505545D2CB}"/>
              </a:ext>
            </a:extLst>
          </p:cNvPr>
          <p:cNvCxnSpPr>
            <a:cxnSpLocks/>
          </p:cNvCxnSpPr>
          <p:nvPr/>
        </p:nvCxnSpPr>
        <p:spPr>
          <a:xfrm>
            <a:off x="5401517" y="6386479"/>
            <a:ext cx="0" cy="18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686E9230-A674-B444-5FE0-71FDE8FE2DDB}"/>
              </a:ext>
            </a:extLst>
          </p:cNvPr>
          <p:cNvSpPr txBox="1"/>
          <p:nvPr/>
        </p:nvSpPr>
        <p:spPr>
          <a:xfrm>
            <a:off x="1449020" y="4238594"/>
            <a:ext cx="524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Mp1</a:t>
            </a:r>
            <a:endParaRPr lang="en-US" sz="1400" dirty="0">
              <a:latin typeface="+mj-lt"/>
            </a:endParaRPr>
          </a:p>
        </p:txBody>
      </p:sp>
      <p:cxnSp>
        <p:nvCxnSpPr>
          <p:cNvPr id="1062" name="Ευθεία γραμμή σύνδεσης 1061">
            <a:extLst>
              <a:ext uri="{FF2B5EF4-FFF2-40B4-BE49-F238E27FC236}">
                <a16:creationId xmlns:a16="http://schemas.microsoft.com/office/drawing/2014/main" id="{96037AF6-6641-14DE-CBDA-F9BE7D9168F8}"/>
              </a:ext>
            </a:extLst>
          </p:cNvPr>
          <p:cNvCxnSpPr/>
          <p:nvPr/>
        </p:nvCxnSpPr>
        <p:spPr>
          <a:xfrm>
            <a:off x="1905638" y="4402904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TextBox 1062">
            <a:extLst>
              <a:ext uri="{FF2B5EF4-FFF2-40B4-BE49-F238E27FC236}">
                <a16:creationId xmlns:a16="http://schemas.microsoft.com/office/drawing/2014/main" id="{2490B976-7F39-3187-18EC-A9A30DA4CD9B}"/>
              </a:ext>
            </a:extLst>
          </p:cNvPr>
          <p:cNvSpPr txBox="1"/>
          <p:nvPr/>
        </p:nvSpPr>
        <p:spPr>
          <a:xfrm>
            <a:off x="3648435" y="5964999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Mp2</a:t>
            </a:r>
            <a:endParaRPr lang="en-US" sz="1400" dirty="0">
              <a:latin typeface="+mj-lt"/>
            </a:endParaRPr>
          </a:p>
        </p:txBody>
      </p:sp>
      <p:cxnSp>
        <p:nvCxnSpPr>
          <p:cNvPr id="1064" name="Ευθεία γραμμή σύνδεσης 1063">
            <a:extLst>
              <a:ext uri="{FF2B5EF4-FFF2-40B4-BE49-F238E27FC236}">
                <a16:creationId xmlns:a16="http://schemas.microsoft.com/office/drawing/2014/main" id="{B9D35F09-7D99-49DC-D480-4416780119B8}"/>
              </a:ext>
            </a:extLst>
          </p:cNvPr>
          <p:cNvCxnSpPr/>
          <p:nvPr/>
        </p:nvCxnSpPr>
        <p:spPr>
          <a:xfrm>
            <a:off x="3562496" y="6122048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FE87338-989A-399F-3EFE-7C458CD112D7}"/>
              </a:ext>
            </a:extLst>
          </p:cNvPr>
          <p:cNvSpPr txBox="1"/>
          <p:nvPr/>
        </p:nvSpPr>
        <p:spPr>
          <a:xfrm>
            <a:off x="1422749" y="1067610"/>
            <a:ext cx="51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Mx2</a:t>
            </a:r>
            <a:endParaRPr lang="en-US" sz="1400" dirty="0">
              <a:latin typeface="+mj-lt"/>
            </a:endParaRPr>
          </a:p>
        </p:txBody>
      </p:sp>
      <p:cxnSp>
        <p:nvCxnSpPr>
          <p:cNvPr id="1066" name="Ευθεία γραμμή σύνδεσης 1065">
            <a:extLst>
              <a:ext uri="{FF2B5EF4-FFF2-40B4-BE49-F238E27FC236}">
                <a16:creationId xmlns:a16="http://schemas.microsoft.com/office/drawing/2014/main" id="{766CC865-911D-670B-F8C4-BCD62C217016}"/>
              </a:ext>
            </a:extLst>
          </p:cNvPr>
          <p:cNvCxnSpPr>
            <a:cxnSpLocks/>
          </p:cNvCxnSpPr>
          <p:nvPr/>
        </p:nvCxnSpPr>
        <p:spPr>
          <a:xfrm>
            <a:off x="1679638" y="1329331"/>
            <a:ext cx="0" cy="18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TextBox 1067">
            <a:extLst>
              <a:ext uri="{FF2B5EF4-FFF2-40B4-BE49-F238E27FC236}">
                <a16:creationId xmlns:a16="http://schemas.microsoft.com/office/drawing/2014/main" id="{C8F26536-9722-1DC7-5E73-4C6363CB8178}"/>
              </a:ext>
            </a:extLst>
          </p:cNvPr>
          <p:cNvSpPr txBox="1"/>
          <p:nvPr/>
        </p:nvSpPr>
        <p:spPr>
          <a:xfrm>
            <a:off x="9561418" y="825754"/>
            <a:ext cx="51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Mx1</a:t>
            </a:r>
            <a:endParaRPr lang="en-US" sz="1400" dirty="0">
              <a:latin typeface="+mj-lt"/>
            </a:endParaRPr>
          </a:p>
        </p:txBody>
      </p:sp>
      <p:cxnSp>
        <p:nvCxnSpPr>
          <p:cNvPr id="1069" name="Ευθεία γραμμή σύνδεσης 1068">
            <a:extLst>
              <a:ext uri="{FF2B5EF4-FFF2-40B4-BE49-F238E27FC236}">
                <a16:creationId xmlns:a16="http://schemas.microsoft.com/office/drawing/2014/main" id="{6BD8D601-DF6D-1CB8-47F8-AF9140D4764F}"/>
              </a:ext>
            </a:extLst>
          </p:cNvPr>
          <p:cNvCxnSpPr>
            <a:cxnSpLocks/>
          </p:cNvCxnSpPr>
          <p:nvPr/>
        </p:nvCxnSpPr>
        <p:spPr>
          <a:xfrm>
            <a:off x="9817511" y="1057208"/>
            <a:ext cx="0" cy="18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TextBox 1076">
            <a:extLst>
              <a:ext uri="{FF2B5EF4-FFF2-40B4-BE49-F238E27FC236}">
                <a16:creationId xmlns:a16="http://schemas.microsoft.com/office/drawing/2014/main" id="{EE5B9D2B-9BB9-A7B3-C9CC-4D87E84C1F0C}"/>
              </a:ext>
            </a:extLst>
          </p:cNvPr>
          <p:cNvSpPr txBox="1"/>
          <p:nvPr/>
        </p:nvSpPr>
        <p:spPr>
          <a:xfrm>
            <a:off x="10513992" y="2292523"/>
            <a:ext cx="74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Mx3</a:t>
            </a:r>
            <a:endParaRPr lang="en-US" sz="1400" dirty="0">
              <a:latin typeface="+mj-lt"/>
            </a:endParaRPr>
          </a:p>
        </p:txBody>
      </p:sp>
      <p:cxnSp>
        <p:nvCxnSpPr>
          <p:cNvPr id="1079" name="Ευθεία γραμμή σύνδεσης 1078">
            <a:extLst>
              <a:ext uri="{FF2B5EF4-FFF2-40B4-BE49-F238E27FC236}">
                <a16:creationId xmlns:a16="http://schemas.microsoft.com/office/drawing/2014/main" id="{2C257363-4C8E-973A-CA81-3E7A02D13D55}"/>
              </a:ext>
            </a:extLst>
          </p:cNvPr>
          <p:cNvCxnSpPr/>
          <p:nvPr/>
        </p:nvCxnSpPr>
        <p:spPr>
          <a:xfrm>
            <a:off x="10957132" y="2458043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3E117A0A-1EB0-898B-8E10-4BA23DE68013}"/>
              </a:ext>
            </a:extLst>
          </p:cNvPr>
          <p:cNvSpPr txBox="1"/>
          <p:nvPr/>
        </p:nvSpPr>
        <p:spPr>
          <a:xfrm>
            <a:off x="4988773" y="993376"/>
            <a:ext cx="656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Mm8</a:t>
            </a:r>
            <a:endParaRPr lang="en-US" sz="1400" dirty="0">
              <a:latin typeface="+mj-lt"/>
            </a:endParaRPr>
          </a:p>
        </p:txBody>
      </p:sp>
      <p:cxnSp>
        <p:nvCxnSpPr>
          <p:cNvPr id="1083" name="Ευθεία γραμμή σύνδεσης 1082">
            <a:extLst>
              <a:ext uri="{FF2B5EF4-FFF2-40B4-BE49-F238E27FC236}">
                <a16:creationId xmlns:a16="http://schemas.microsoft.com/office/drawing/2014/main" id="{B80750BE-5235-F4DB-DC97-1006096C8B53}"/>
              </a:ext>
            </a:extLst>
          </p:cNvPr>
          <p:cNvCxnSpPr>
            <a:cxnSpLocks/>
          </p:cNvCxnSpPr>
          <p:nvPr/>
        </p:nvCxnSpPr>
        <p:spPr>
          <a:xfrm>
            <a:off x="5298059" y="1255429"/>
            <a:ext cx="0" cy="18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" name="TextBox 1084">
            <a:extLst>
              <a:ext uri="{FF2B5EF4-FFF2-40B4-BE49-F238E27FC236}">
                <a16:creationId xmlns:a16="http://schemas.microsoft.com/office/drawing/2014/main" id="{2EDBCEF7-BC52-299A-1DEF-5942FFA596C1}"/>
              </a:ext>
            </a:extLst>
          </p:cNvPr>
          <p:cNvSpPr txBox="1"/>
          <p:nvPr/>
        </p:nvSpPr>
        <p:spPr>
          <a:xfrm>
            <a:off x="2679709" y="2817597"/>
            <a:ext cx="941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Mp3</a:t>
            </a:r>
            <a:endParaRPr lang="en-US" sz="1400" dirty="0">
              <a:latin typeface="+mj-lt"/>
            </a:endParaRPr>
          </a:p>
        </p:txBody>
      </p:sp>
      <p:cxnSp>
        <p:nvCxnSpPr>
          <p:cNvPr id="1086" name="Ευθεία γραμμή σύνδεσης 1085">
            <a:extLst>
              <a:ext uri="{FF2B5EF4-FFF2-40B4-BE49-F238E27FC236}">
                <a16:creationId xmlns:a16="http://schemas.microsoft.com/office/drawing/2014/main" id="{8DC04BA2-4CC4-A228-8E0C-16E9125F64D8}"/>
              </a:ext>
            </a:extLst>
          </p:cNvPr>
          <p:cNvCxnSpPr>
            <a:cxnSpLocks/>
          </p:cNvCxnSpPr>
          <p:nvPr/>
        </p:nvCxnSpPr>
        <p:spPr>
          <a:xfrm>
            <a:off x="2997391" y="3079318"/>
            <a:ext cx="0" cy="18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2DF3B4E4-01CA-ABCB-A269-B298CD55333C}"/>
              </a:ext>
            </a:extLst>
          </p:cNvPr>
          <p:cNvSpPr/>
          <p:nvPr/>
        </p:nvSpPr>
        <p:spPr>
          <a:xfrm>
            <a:off x="1636192" y="4636994"/>
            <a:ext cx="698298" cy="973573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+mj-lt"/>
              </a:rPr>
              <a:t>MEC DT App #N</a:t>
            </a:r>
          </a:p>
        </p:txBody>
      </p:sp>
      <p:sp>
        <p:nvSpPr>
          <p:cNvPr id="47" name="Ορθογώνιο 46">
            <a:extLst>
              <a:ext uri="{FF2B5EF4-FFF2-40B4-BE49-F238E27FC236}">
                <a16:creationId xmlns:a16="http://schemas.microsoft.com/office/drawing/2014/main" id="{8E15A10E-3E2A-6877-CA46-CE26D2DD6438}"/>
              </a:ext>
            </a:extLst>
          </p:cNvPr>
          <p:cNvSpPr/>
          <p:nvPr/>
        </p:nvSpPr>
        <p:spPr>
          <a:xfrm>
            <a:off x="123178" y="4636994"/>
            <a:ext cx="698299" cy="96365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+mj-lt"/>
              </a:rPr>
              <a:t>MEC DT App #1</a:t>
            </a:r>
          </a:p>
        </p:txBody>
      </p:sp>
      <p:sp>
        <p:nvSpPr>
          <p:cNvPr id="1037" name="Ορθογώνιο 1036">
            <a:extLst>
              <a:ext uri="{FF2B5EF4-FFF2-40B4-BE49-F238E27FC236}">
                <a16:creationId xmlns:a16="http://schemas.microsoft.com/office/drawing/2014/main" id="{3FE07EA3-88CC-1EF0-AC4F-6D70A985DC4D}"/>
              </a:ext>
            </a:extLst>
          </p:cNvPr>
          <p:cNvSpPr/>
          <p:nvPr/>
        </p:nvSpPr>
        <p:spPr>
          <a:xfrm>
            <a:off x="893517" y="4636995"/>
            <a:ext cx="693918" cy="96365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+mj-lt"/>
              </a:rPr>
              <a:t>MEC DT App #2</a:t>
            </a:r>
          </a:p>
        </p:txBody>
      </p:sp>
      <p:cxnSp>
        <p:nvCxnSpPr>
          <p:cNvPr id="1046" name="Γραμμή σύνδεσης: Γωνιώδης 1045">
            <a:extLst>
              <a:ext uri="{FF2B5EF4-FFF2-40B4-BE49-F238E27FC236}">
                <a16:creationId xmlns:a16="http://schemas.microsoft.com/office/drawing/2014/main" id="{795F945C-00DE-1557-AEDA-4C61E2BC121B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1820394" y="4069877"/>
            <a:ext cx="732064" cy="4021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Γραμμή σύνδεσης: Γωνιώδης 1051">
            <a:extLst>
              <a:ext uri="{FF2B5EF4-FFF2-40B4-BE49-F238E27FC236}">
                <a16:creationId xmlns:a16="http://schemas.microsoft.com/office/drawing/2014/main" id="{C8981BA4-2EFA-56EC-61C7-B1161933101C}"/>
              </a:ext>
            </a:extLst>
          </p:cNvPr>
          <p:cNvCxnSpPr>
            <a:stCxn id="63" idx="3"/>
            <a:endCxn id="44" idx="2"/>
          </p:cNvCxnSpPr>
          <p:nvPr/>
        </p:nvCxnSpPr>
        <p:spPr>
          <a:xfrm flipV="1">
            <a:off x="2750279" y="5965860"/>
            <a:ext cx="883748" cy="294574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Ευθεία γραμμή σύνδεσης 1089">
            <a:extLst>
              <a:ext uri="{FF2B5EF4-FFF2-40B4-BE49-F238E27FC236}">
                <a16:creationId xmlns:a16="http://schemas.microsoft.com/office/drawing/2014/main" id="{884820A4-54BE-6012-FD6B-2E760A19B338}"/>
              </a:ext>
            </a:extLst>
          </p:cNvPr>
          <p:cNvCxnSpPr/>
          <p:nvPr/>
        </p:nvCxnSpPr>
        <p:spPr>
          <a:xfrm>
            <a:off x="7487164" y="4432179"/>
            <a:ext cx="0" cy="3469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6" name="Picture 2" descr="Database icon - Free Download PNG &amp; SVG | Streamline">
            <a:extLst>
              <a:ext uri="{FF2B5EF4-FFF2-40B4-BE49-F238E27FC236}">
                <a16:creationId xmlns:a16="http://schemas.microsoft.com/office/drawing/2014/main" id="{E054C8FB-8A2C-E5DB-5E30-91C507434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713" y="124848"/>
            <a:ext cx="530814" cy="55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7" name="TextBox 1096">
            <a:extLst>
              <a:ext uri="{FF2B5EF4-FFF2-40B4-BE49-F238E27FC236}">
                <a16:creationId xmlns:a16="http://schemas.microsoft.com/office/drawing/2014/main" id="{BACA929C-FA80-12F5-5C2A-51932563649B}"/>
              </a:ext>
            </a:extLst>
          </p:cNvPr>
          <p:cNvSpPr txBox="1"/>
          <p:nvPr/>
        </p:nvSpPr>
        <p:spPr>
          <a:xfrm>
            <a:off x="5669197" y="570736"/>
            <a:ext cx="1257338" cy="40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latin typeface="+mj-lt"/>
              </a:rPr>
              <a:t>Scenario Descriptions DB</a:t>
            </a:r>
            <a:endParaRPr lang="en-US" sz="105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098" name="Ορθογώνιο 1097">
            <a:extLst>
              <a:ext uri="{FF2B5EF4-FFF2-40B4-BE49-F238E27FC236}">
                <a16:creationId xmlns:a16="http://schemas.microsoft.com/office/drawing/2014/main" id="{F4483C83-0C10-2759-1B2C-58732B0E744E}"/>
              </a:ext>
            </a:extLst>
          </p:cNvPr>
          <p:cNvSpPr/>
          <p:nvPr/>
        </p:nvSpPr>
        <p:spPr>
          <a:xfrm>
            <a:off x="5751861" y="140022"/>
            <a:ext cx="1117723" cy="78545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+mj-lt"/>
            </a:endParaRPr>
          </a:p>
        </p:txBody>
      </p:sp>
      <p:sp>
        <p:nvSpPr>
          <p:cNvPr id="1100" name="Ορθογώνιο 1099">
            <a:extLst>
              <a:ext uri="{FF2B5EF4-FFF2-40B4-BE49-F238E27FC236}">
                <a16:creationId xmlns:a16="http://schemas.microsoft.com/office/drawing/2014/main" id="{2943CB6E-13FC-CA3F-5DA9-6AC61F11647F}"/>
              </a:ext>
            </a:extLst>
          </p:cNvPr>
          <p:cNvSpPr/>
          <p:nvPr/>
        </p:nvSpPr>
        <p:spPr>
          <a:xfrm>
            <a:off x="8001980" y="138303"/>
            <a:ext cx="1117723" cy="78545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+mj-lt"/>
            </a:endParaRPr>
          </a:p>
        </p:txBody>
      </p:sp>
      <p:pic>
        <p:nvPicPr>
          <p:cNvPr id="1101" name="Picture 2" descr="Database icon - Free Download PNG &amp; SVG | Streamline">
            <a:extLst>
              <a:ext uri="{FF2B5EF4-FFF2-40B4-BE49-F238E27FC236}">
                <a16:creationId xmlns:a16="http://schemas.microsoft.com/office/drawing/2014/main" id="{88106C3E-4C47-7FAD-D2A3-939A4C050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284" y="124848"/>
            <a:ext cx="530814" cy="55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B27946-4949-EDE3-7FF3-338E0A2C5646}"/>
              </a:ext>
            </a:extLst>
          </p:cNvPr>
          <p:cNvSpPr txBox="1"/>
          <p:nvPr/>
        </p:nvSpPr>
        <p:spPr>
          <a:xfrm>
            <a:off x="3824378" y="538341"/>
            <a:ext cx="1257338" cy="247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latin typeface="+mj-lt"/>
                <a:cs typeface="Arial" panose="020B0604020202020204" pitchFamily="34" charset="0"/>
              </a:rPr>
              <a:t>History DB</a:t>
            </a:r>
            <a:endParaRPr lang="en-US" sz="1050" dirty="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5" name="Γραμμή σύνδεσης: Γωνιώδης 1045">
            <a:extLst>
              <a:ext uri="{FF2B5EF4-FFF2-40B4-BE49-F238E27FC236}">
                <a16:creationId xmlns:a16="http://schemas.microsoft.com/office/drawing/2014/main" id="{D76B8568-4333-4614-80E7-9ECF5AC9F4C3}"/>
              </a:ext>
            </a:extLst>
          </p:cNvPr>
          <p:cNvCxnSpPr>
            <a:cxnSpLocks/>
          </p:cNvCxnSpPr>
          <p:nvPr/>
        </p:nvCxnSpPr>
        <p:spPr>
          <a:xfrm flipV="1">
            <a:off x="659998" y="4057330"/>
            <a:ext cx="1735676" cy="547538"/>
          </a:xfrm>
          <a:prstGeom prst="bentConnector3">
            <a:avLst>
              <a:gd name="adj1" fmla="val -17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FB64F9-5650-6ED3-CF64-3619CF958EE5}"/>
              </a:ext>
            </a:extLst>
          </p:cNvPr>
          <p:cNvSpPr txBox="1"/>
          <p:nvPr/>
        </p:nvSpPr>
        <p:spPr>
          <a:xfrm>
            <a:off x="670554" y="4218656"/>
            <a:ext cx="524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+mj-lt"/>
              </a:rPr>
              <a:t>Mp1</a:t>
            </a:r>
            <a:endParaRPr lang="en-US" sz="1400" dirty="0">
              <a:latin typeface="+mj-lt"/>
            </a:endParaRPr>
          </a:p>
        </p:txBody>
      </p:sp>
      <p:cxnSp>
        <p:nvCxnSpPr>
          <p:cNvPr id="31" name="Ευθεία γραμμή σύνδεσης 1061">
            <a:extLst>
              <a:ext uri="{FF2B5EF4-FFF2-40B4-BE49-F238E27FC236}">
                <a16:creationId xmlns:a16="http://schemas.microsoft.com/office/drawing/2014/main" id="{33771285-1545-0D6B-33ED-0D63973C2466}"/>
              </a:ext>
            </a:extLst>
          </p:cNvPr>
          <p:cNvCxnSpPr/>
          <p:nvPr/>
        </p:nvCxnSpPr>
        <p:spPr>
          <a:xfrm>
            <a:off x="563062" y="4366622"/>
            <a:ext cx="159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Ορθογώνιο 1027">
            <a:extLst>
              <a:ext uri="{FF2B5EF4-FFF2-40B4-BE49-F238E27FC236}">
                <a16:creationId xmlns:a16="http://schemas.microsoft.com/office/drawing/2014/main" id="{9B0BC08A-7901-BAD6-105E-702BAA83E996}"/>
              </a:ext>
            </a:extLst>
          </p:cNvPr>
          <p:cNvSpPr/>
          <p:nvPr/>
        </p:nvSpPr>
        <p:spPr>
          <a:xfrm>
            <a:off x="2475377" y="3864889"/>
            <a:ext cx="2310812" cy="45342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Local MEC DT App Registry</a:t>
            </a:r>
            <a:endParaRPr lang="en-US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53" name="Ορθογώνιο 56">
            <a:extLst>
              <a:ext uri="{FF2B5EF4-FFF2-40B4-BE49-F238E27FC236}">
                <a16:creationId xmlns:a16="http://schemas.microsoft.com/office/drawing/2014/main" id="{69411305-A389-4075-8732-7BDA8B553977}"/>
              </a:ext>
            </a:extLst>
          </p:cNvPr>
          <p:cNvSpPr/>
          <p:nvPr/>
        </p:nvSpPr>
        <p:spPr>
          <a:xfrm>
            <a:off x="5805211" y="4844244"/>
            <a:ext cx="1056892" cy="6544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MEC App Lifecycle </a:t>
            </a:r>
            <a:r>
              <a:rPr lang="en-US" sz="1400" dirty="0" err="1">
                <a:latin typeface="+mj-lt"/>
              </a:rPr>
              <a:t>Mgmt</a:t>
            </a:r>
            <a:endParaRPr 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2240280" y="230428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latin typeface="Arial"/>
              </a:rPr>
              <a:t>Analyzer (with NDT)</a:t>
            </a:r>
          </a:p>
        </p:txBody>
      </p:sp>
      <p:sp>
        <p:nvSpPr>
          <p:cNvPr id="1108" name="Rectangle 1107"/>
          <p:cNvSpPr/>
          <p:nvPr/>
        </p:nvSpPr>
        <p:spPr>
          <a:xfrm>
            <a:off x="2084831" y="2578608"/>
            <a:ext cx="2816352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latin typeface="Arial"/>
              </a:rPr>
              <a:t/>
            </a:r>
          </a:p>
        </p:txBody>
      </p:sp>
      <p:sp>
        <p:nvSpPr>
          <p:cNvPr id="1109" name="TextBox 1108"/>
          <p:cNvSpPr txBox="1"/>
          <p:nvPr/>
        </p:nvSpPr>
        <p:spPr>
          <a:xfrm>
            <a:off x="2167128" y="263347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latin typeface="Arial"/>
              </a:rPr>
              <a:t>NDT (Network Digital Twin)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2221992" y="2816352"/>
            <a:ext cx="2514600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650">
                <a:latin typeface="Arial"/>
              </a:defRPr>
            </a:pPr>
            <a:r>
              <a:t>• Network Modeling</a:t>
            </a:r>
          </a:p>
          <a:p>
            <a:pPr algn="l">
              <a:defRPr sz="650">
                <a:latin typeface="Arial"/>
              </a:defRPr>
            </a:pPr>
            <a:r>
              <a:t>• Topology Discovery</a:t>
            </a:r>
          </a:p>
          <a:p>
            <a:pPr algn="l">
              <a:defRPr sz="650">
                <a:latin typeface="Arial"/>
              </a:defRPr>
            </a:pPr>
            <a:r>
              <a:t>• Asset Inventory</a:t>
            </a:r>
          </a:p>
          <a:p>
            <a:pPr algn="l">
              <a:defRPr sz="650">
                <a:latin typeface="Arial"/>
              </a:defRPr>
            </a:pPr>
            <a:r>
              <a:t>• Behavior Baseline</a:t>
            </a:r>
          </a:p>
          <a:p>
            <a:pPr algn="l">
              <a:defRPr sz="650">
                <a:latin typeface="Arial"/>
              </a:defRPr>
            </a:pPr>
            <a:r>
              <a:t>• What-if Simulation</a:t>
            </a:r>
          </a:p>
        </p:txBody>
      </p:sp>
      <p:sp>
        <p:nvSpPr>
          <p:cNvPr id="1111" name="Rectangle 1110"/>
          <p:cNvSpPr/>
          <p:nvPr/>
        </p:nvSpPr>
        <p:spPr>
          <a:xfrm>
            <a:off x="5989320" y="2304288"/>
            <a:ext cx="288036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latin typeface="Arial"/>
              </a:rPr>
              <a:t/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6153912" y="2359152"/>
            <a:ext cx="25511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latin typeface="Arial"/>
              </a:rPr>
              <a:t>NDT Orchestrator
(MEC-empowered DT Backed Deception Platform Orchestrator)</a:t>
            </a:r>
          </a:p>
        </p:txBody>
      </p:sp>
      <p:sp>
        <p:nvSpPr>
          <p:cNvPr id="1113" name="Rectangle 1112"/>
          <p:cNvSpPr/>
          <p:nvPr/>
        </p:nvSpPr>
        <p:spPr>
          <a:xfrm>
            <a:off x="6153912" y="2697480"/>
            <a:ext cx="801623" cy="484632"/>
          </a:xfrm>
          <a:prstGeom prst="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latin typeface="Arial"/>
              </a:rPr>
              <a:t>MEC-empowered
DT Package
Management</a:t>
            </a:r>
          </a:p>
        </p:txBody>
      </p:sp>
      <p:sp>
        <p:nvSpPr>
          <p:cNvPr id="1114" name="Rectangle 1113"/>
          <p:cNvSpPr/>
          <p:nvPr/>
        </p:nvSpPr>
        <p:spPr>
          <a:xfrm>
            <a:off x="7028688" y="2697480"/>
            <a:ext cx="801623" cy="484632"/>
          </a:xfrm>
          <a:prstGeom prst="rect">
            <a:avLst/>
          </a:prstGeom>
          <a:solidFill>
            <a:srgbClr val="DDEBF7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30" b="0">
                <a:latin typeface="Arial"/>
              </a:rPr>
              <a:t>Platform Selection &amp;
End-to-End
Orchestration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7903463" y="2697480"/>
            <a:ext cx="801623" cy="484632"/>
          </a:xfrm>
          <a:prstGeom prst="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latin typeface="Arial"/>
              </a:rPr>
              <a:t>VI Monitoring and
Telemetry
Module</a:t>
            </a:r>
          </a:p>
        </p:txBody>
      </p:sp>
      <p:sp>
        <p:nvSpPr>
          <p:cNvPr id="1116" name="Rectangle 1115"/>
          <p:cNvSpPr/>
          <p:nvPr/>
        </p:nvSpPr>
        <p:spPr>
          <a:xfrm>
            <a:off x="6099048" y="3291840"/>
            <a:ext cx="2660904" cy="1024128"/>
          </a:xfrm>
          <a:prstGeom prst="rect">
            <a:avLst/>
          </a:prstGeom>
          <a:solidFill>
            <a:srgbClr val="DDEBF7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latin typeface="Arial"/>
              </a:rPr>
              <a:t/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6208776" y="3328416"/>
            <a:ext cx="24414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latin typeface="Arial"/>
              </a:rPr>
              <a:t>Application Packages (Network Devices &amp; Functions)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6217920" y="3566160"/>
            <a:ext cx="36956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70" b="0">
                <a:latin typeface="Arial"/>
              </a:rPr>
              <a:t>Base
Stations</a:t>
            </a:r>
          </a:p>
        </p:txBody>
      </p:sp>
      <p:sp>
        <p:nvSpPr>
          <p:cNvPr id="1119" name="Rectangle 1118"/>
          <p:cNvSpPr/>
          <p:nvPr/>
        </p:nvSpPr>
        <p:spPr>
          <a:xfrm>
            <a:off x="6628638" y="3566160"/>
            <a:ext cx="36956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70" b="0">
                <a:latin typeface="Arial"/>
              </a:rPr>
              <a:t>Network
Functions
/ Servers</a:t>
            </a:r>
          </a:p>
        </p:txBody>
      </p:sp>
      <p:sp>
        <p:nvSpPr>
          <p:cNvPr id="1120" name="Rectangle 1119"/>
          <p:cNvSpPr/>
          <p:nvPr/>
        </p:nvSpPr>
        <p:spPr>
          <a:xfrm>
            <a:off x="7039356" y="3566160"/>
            <a:ext cx="36956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70" b="0">
                <a:latin typeface="Arial"/>
              </a:rPr>
              <a:t>UEs / IoT
Devices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7450073" y="3566160"/>
            <a:ext cx="36956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70" b="0">
                <a:latin typeface="Arial"/>
              </a:rPr>
              <a:t>Switches</a:t>
            </a:r>
          </a:p>
        </p:txBody>
      </p:sp>
      <p:sp>
        <p:nvSpPr>
          <p:cNvPr id="1122" name="Rectangle 1121"/>
          <p:cNvSpPr/>
          <p:nvPr/>
        </p:nvSpPr>
        <p:spPr>
          <a:xfrm>
            <a:off x="7860791" y="3566160"/>
            <a:ext cx="36956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70" b="0">
                <a:latin typeface="Arial"/>
              </a:rPr>
              <a:t>Routers</a:t>
            </a:r>
          </a:p>
        </p:txBody>
      </p:sp>
      <p:sp>
        <p:nvSpPr>
          <p:cNvPr id="1123" name="Rectangle 1122"/>
          <p:cNvSpPr/>
          <p:nvPr/>
        </p:nvSpPr>
        <p:spPr>
          <a:xfrm>
            <a:off x="8271509" y="3566160"/>
            <a:ext cx="369569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70" b="0">
                <a:latin typeface="Arial"/>
              </a:rPr>
              <a:t>Gateways</a:t>
            </a:r>
          </a:p>
        </p:txBody>
      </p:sp>
      <p:sp>
        <p:nvSpPr>
          <p:cNvPr id="1124" name="Rectangle 1123"/>
          <p:cNvSpPr/>
          <p:nvPr/>
        </p:nvSpPr>
        <p:spPr>
          <a:xfrm>
            <a:off x="5650992" y="4727448"/>
            <a:ext cx="3502152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latin typeface="Arial"/>
              </a:rPr>
              <a:t/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5879592" y="5486400"/>
            <a:ext cx="3044952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latin typeface="Arial"/>
              </a:rPr>
              <a:t>MEC-empowered DT Platform Manager</a:t>
            </a:r>
          </a:p>
        </p:txBody>
      </p:sp>
      <p:sp>
        <p:nvSpPr>
          <p:cNvPr id="1126" name="Rectangle 1125"/>
          <p:cNvSpPr/>
          <p:nvPr/>
        </p:nvSpPr>
        <p:spPr>
          <a:xfrm>
            <a:off x="5797296" y="4855464"/>
            <a:ext cx="996696" cy="521207"/>
          </a:xfrm>
          <a:prstGeom prst="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latin typeface="Arial"/>
              </a:rPr>
              <a:t>MEC App
Rules &amp; Reqts Mgmt</a:t>
            </a:r>
          </a:p>
        </p:txBody>
      </p:sp>
      <p:sp>
        <p:nvSpPr>
          <p:cNvPr id="1127" name="Rectangle 1126"/>
          <p:cNvSpPr/>
          <p:nvPr/>
        </p:nvSpPr>
        <p:spPr>
          <a:xfrm>
            <a:off x="6903720" y="4855464"/>
            <a:ext cx="996696" cy="521207"/>
          </a:xfrm>
          <a:prstGeom prst="rect">
            <a:avLst/>
          </a:prstGeom>
          <a:solidFill>
            <a:srgbClr val="DDEBF7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latin typeface="Arial"/>
              </a:rPr>
              <a:t>Health
Mgmt</a:t>
            </a:r>
          </a:p>
        </p:txBody>
      </p:sp>
      <p:sp>
        <p:nvSpPr>
          <p:cNvPr id="1128" name="Rectangle 1127"/>
          <p:cNvSpPr/>
          <p:nvPr/>
        </p:nvSpPr>
        <p:spPr>
          <a:xfrm>
            <a:off x="8010144" y="4855464"/>
            <a:ext cx="996696" cy="521207"/>
          </a:xfrm>
          <a:prstGeom prst="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80" b="0">
                <a:latin typeface="Arial"/>
              </a:rPr>
              <a:t>MEC App
Lifecycle
Mgmt</a:t>
            </a:r>
          </a:p>
        </p:txBody>
      </p:sp>
    </p:spTree>
    <p:extLst>
      <p:ext uri="{BB962C8B-B14F-4D97-AF65-F5344CB8AC3E}">
        <p14:creationId xmlns:p14="http://schemas.microsoft.com/office/powerpoint/2010/main" val="4123287000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4360</TotalTime>
  <Words>138</Words>
  <Application>Microsoft Office PowerPoint</Application>
  <PresentationFormat>Ευρεία οθόνη</PresentationFormat>
  <Paragraphs>52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Θέμα του Office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Panagiotis Kourtis</dc:creator>
  <cp:lastModifiedBy>Panagiotis Kourtis</cp:lastModifiedBy>
  <cp:revision>20</cp:revision>
  <dcterms:created xsi:type="dcterms:W3CDTF">2026-06-04T17:43:08Z</dcterms:created>
  <dcterms:modified xsi:type="dcterms:W3CDTF">2026-07-08T09:06:31Z</dcterms:modified>
</cp:coreProperties>
</file>